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Garamon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5A61FE-93AE-4760-A5E8-54FD9C87F7F4}">
  <a:tblStyle styleId="{FD5A61FE-93AE-4760-A5E8-54FD9C87F7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Garamond-bold.fntdata"/><Relationship Id="rId10" Type="http://schemas.openxmlformats.org/officeDocument/2006/relationships/slide" Target="slides/slide4.xml"/><Relationship Id="rId21" Type="http://schemas.openxmlformats.org/officeDocument/2006/relationships/font" Target="fonts/Garamond-regular.fntdata"/><Relationship Id="rId13" Type="http://schemas.openxmlformats.org/officeDocument/2006/relationships/slide" Target="slides/slide7.xml"/><Relationship Id="rId24" Type="http://schemas.openxmlformats.org/officeDocument/2006/relationships/font" Target="fonts/Garamond-boldItalic.fntdata"/><Relationship Id="rId12" Type="http://schemas.openxmlformats.org/officeDocument/2006/relationships/slide" Target="slides/slide6.xml"/><Relationship Id="rId23" Type="http://schemas.openxmlformats.org/officeDocument/2006/relationships/font" Target="fonts/Garamon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fbd51f9e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fbd51f9e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fbd51f9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fbd51f9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fbd51f9e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fbd51f9e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fbd51f9e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fbd51f9e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fbd51f9e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fbd51f9e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fbd51f9e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fbd51f9e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fbd51f9e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fbd51f9e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fbd51f9e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fbd51f9e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fbd51f9e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fbd51f9e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fbd51f9e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fbd51f9e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fbd51f9e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fbd51f9e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fbd51f9e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fbd51f9e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fbd51f9e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fbd51f9e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569800"/>
          </a:xfrm>
          <a:prstGeom prst="rect">
            <a:avLst/>
          </a:prstGeom>
          <a:solidFill>
            <a:srgbClr val="4A86E8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latin typeface="Garamond"/>
                <a:ea typeface="Garamond"/>
                <a:cs typeface="Garamond"/>
                <a:sym typeface="Garamond"/>
              </a:rPr>
              <a:t>Student Success : Factors &amp; Insights</a:t>
            </a:r>
            <a:endParaRPr b="1" i="1" sz="30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latin typeface="Garamond"/>
                <a:ea typeface="Garamond"/>
                <a:cs typeface="Garamond"/>
                <a:sym typeface="Garamond"/>
              </a:rPr>
              <a:t>ISE-201 Math Foundations for Decision and Data Sciences</a:t>
            </a:r>
            <a:endParaRPr i="1" sz="15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500">
              <a:solidFill>
                <a:srgbClr val="212529"/>
              </a:solidFill>
              <a:highlight>
                <a:srgbClr val="FFFFFF"/>
              </a:highlight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1100">
                <a:latin typeface="Garamond"/>
                <a:ea typeface="Garamond"/>
                <a:cs typeface="Garamond"/>
                <a:sym typeface="Garamond"/>
              </a:rPr>
              <a:t>Name: Bishakha</a:t>
            </a:r>
            <a:endParaRPr b="1" i="1" sz="11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latin typeface="Garamond"/>
                <a:ea typeface="Garamond"/>
                <a:cs typeface="Garamond"/>
                <a:sym typeface="Garamond"/>
              </a:rPr>
              <a:t>SJSU ID: 019178354</a:t>
            </a:r>
            <a:endParaRPr b="1" i="1" sz="220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Bookman Old Style"/>
                <a:ea typeface="Bookman Old Style"/>
                <a:cs typeface="Bookman Old Style"/>
                <a:sym typeface="Bookman Old Style"/>
              </a:rPr>
              <a:t>Understanding the Problem Statement</a:t>
            </a:r>
            <a:endParaRPr b="1" sz="20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Objective</a:t>
            </a:r>
            <a:endParaRPr b="1"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performance of students may be affected by several factors such as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parental involvement, access to resources, extracurricular activities, sleep hours, motivation, and socio-economic background. There can be a wide variety of factors , unique to each student. </a:t>
            </a: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goal of the EDA Project was to understand which factors contribute </a:t>
            </a: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most </a:t>
            </a: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to the academic success of students at mass level. </a:t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Dataset:</a:t>
            </a:r>
            <a:r>
              <a:rPr lang="en" sz="1500"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i="1" lang="en" sz="1500">
                <a:solidFill>
                  <a:srgbClr val="0000FF"/>
                </a:solidFill>
              </a:rPr>
              <a:t>https://www.kaggle.com/datasets/anassarfraz13/student-success-factors-and-insights</a:t>
            </a:r>
            <a:endParaRPr i="1" sz="15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latin typeface="Bookman Old Style"/>
                <a:ea typeface="Bookman Old Style"/>
                <a:cs typeface="Bookman Old Style"/>
                <a:sym typeface="Bookman Old Style"/>
              </a:rPr>
              <a:t>EDA Plan Review</a:t>
            </a:r>
            <a:endParaRPr b="1" sz="202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❖"/>
            </a:pP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Understanding the dataset </a:t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❖"/>
            </a:pP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Exploring and Inspecting dataset</a:t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❖"/>
            </a:pP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Handling the </a:t>
            </a: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Missing</a:t>
            </a: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values / Duplicates</a:t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❖"/>
            </a:pP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Exploring Patterns in data ( </a:t>
            </a: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Box Plots</a:t>
            </a: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Histograms, Count plots , scatter plot )</a:t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❖"/>
            </a:pP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Handling the outliers</a:t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❖"/>
            </a:pP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Transform the data ( Scale, Encode , Derive ratios/Columns)</a:t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❖"/>
            </a:pP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Finding the Correlations</a:t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❖"/>
            </a:pP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Insights ( Finding the answers and conclusion )</a:t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73900" y="262725"/>
            <a:ext cx="8346900" cy="4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Understand , Inspect and clean the dataset</a:t>
            </a:r>
            <a:r>
              <a:rPr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Shape : 6607 X 20</a:t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Categorical Features: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"Parental_Involvement","Access_to_Resources","Extracurricular_Activities",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"Motivation_Level","Internet_Access","Family_Income","Teacher_Quality","School_Type","Peer_Influence","Learning_Disabilities","Parental_Education_Level","Distance_from_Home","Gender"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Numerical Features: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"Hours_Studied","Sleep_Hours","Previous_Scores", "Physical_Activity", "Tutoring_Sessions", "Exam_Score", "Attendance"</a:t>
            </a:r>
            <a:endParaRPr sz="1200">
              <a:solidFill>
                <a:srgbClr val="0000FF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dtypes: int64(7), object(13)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Check for </a:t>
            </a: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duplicate </a:t>
            </a: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rows</a:t>
            </a: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: </a:t>
            </a: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no duplicate rows found</a:t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Check for columns with</a:t>
            </a: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Null Values</a:t>
            </a:r>
            <a:endParaRPr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○"/>
            </a:pP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Teacher quality  : 78 rows</a:t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○"/>
            </a:pP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Parental Education level : 90 rows</a:t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○"/>
            </a:pP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Distance from home : 67 rows</a:t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○"/>
            </a:pP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Use mode value to fill na values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191400" y="0"/>
            <a:ext cx="8761200" cy="48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Exploring Patterns in dataset </a:t>
            </a:r>
            <a:endParaRPr b="1"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Look at the distribution of data using different plots</a:t>
            </a:r>
            <a:endParaRPr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Used Box Plots , histograms for numerical features</a:t>
            </a:r>
            <a:endParaRPr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Count plot diagram for categorical features</a:t>
            </a:r>
            <a:endParaRPr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aphicFrame>
        <p:nvGraphicFramePr>
          <p:cNvPr id="77" name="Google Shape;77;p17"/>
          <p:cNvGraphicFramePr/>
          <p:nvPr/>
        </p:nvGraphicFramePr>
        <p:xfrm>
          <a:off x="205315" y="1756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{FD5A61FE-93AE-4760-A5E8-54FD9C87F7F4}</a:tableStyleId>
              </a:tblPr>
              <a:tblGrid>
                <a:gridCol w="1629700"/>
                <a:gridCol w="1265900"/>
                <a:gridCol w="1488225"/>
                <a:gridCol w="1407375"/>
                <a:gridCol w="2970025"/>
              </a:tblGrid>
              <a:tr h="49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Hours_Studied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19.975329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44.000000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5.990594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Symmetric normal distribution</a:t>
                      </a:r>
                      <a:endParaRPr sz="1000"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/>
                </a:tc>
              </a:tr>
              <a:tr h="49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Attendance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79.977448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100.000000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11.547475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Symmetric normal distribution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Sleep_Hours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7.02906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10.00000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1.46812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Symmetric normal distribution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Previous_Scores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75.070531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100.000000</a:t>
                      </a:r>
                      <a:endParaRPr/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14.399784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Symmetric normal distribution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Tutoring_Session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1.493719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8.000000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1.230570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normal distribution with little right skewed</a:t>
                      </a:r>
                      <a:endParaRPr/>
                    </a:p>
                  </a:txBody>
                  <a:tcPr marT="66675" marB="66675" marR="66675" marL="66675"/>
                </a:tc>
              </a:tr>
              <a:tr h="38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Physical_Activity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2.967610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6.000000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1.031231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normal distribution with little right skewed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Exam_Score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chemeClr val="lt1"/>
                          </a:highlight>
                        </a:rPr>
                        <a:t>67.235659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101.000000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3.890456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normal distribution with little left skewed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8" name="Google Shape;78;p17"/>
          <p:cNvGraphicFramePr/>
          <p:nvPr/>
        </p:nvGraphicFramePr>
        <p:xfrm>
          <a:off x="205333" y="13606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{FD5A61FE-93AE-4760-A5E8-54FD9C87F7F4}</a:tableStyleId>
              </a:tblPr>
              <a:tblGrid>
                <a:gridCol w="1629700"/>
                <a:gridCol w="1265900"/>
                <a:gridCol w="1488225"/>
                <a:gridCol w="1407375"/>
                <a:gridCol w="297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Features</a:t>
                      </a:r>
                      <a:endParaRPr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Mean </a:t>
                      </a:r>
                      <a:endParaRPr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Max</a:t>
                      </a:r>
                      <a:endParaRPr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Std Dev.</a:t>
                      </a:r>
                      <a:endParaRPr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Distribution</a:t>
                      </a:r>
                      <a:endParaRPr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402175" y="105825"/>
            <a:ext cx="8508900" cy="4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CountPlot for Categorical Features</a:t>
            </a:r>
            <a:endParaRPr b="1"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●"/>
            </a:pPr>
            <a:r>
              <a:rPr b="1"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Normally distributed </a:t>
            </a:r>
            <a:endParaRPr b="1"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●"/>
            </a:pPr>
            <a:r>
              <a:rPr b="1"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Few features Skewed to left and right</a:t>
            </a:r>
            <a:endParaRPr b="1"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84" name="Google Shape;84;p18" title="Screenshot 2025-12-16 at 9.32.0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500" y="1058325"/>
            <a:ext cx="7863424" cy="385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201075" y="116425"/>
            <a:ext cx="8815800" cy="4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Box Plot for Numerical Features</a:t>
            </a:r>
            <a:endParaRPr b="1"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ookman Old Style"/>
              <a:buChar char="●"/>
            </a:pPr>
            <a:r>
              <a:rPr b="1" lang="en" sz="15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Finding the outliers</a:t>
            </a:r>
            <a:endParaRPr b="1"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90" name="Google Shape;90;p19" title="Screenshot 2025-12-16 at 9.46.0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175" y="793750"/>
            <a:ext cx="8180902" cy="416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145950" y="101050"/>
            <a:ext cx="8852100" cy="49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Handling the outliers </a:t>
            </a: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>
              <a:solidFill>
                <a:srgbClr val="181818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Bookman Old Style"/>
              <a:buChar char="●"/>
            </a:pPr>
            <a:r>
              <a:rPr lang="en">
                <a:solidFill>
                  <a:srgbClr val="18181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Outliers identified using box plots</a:t>
            </a:r>
            <a:endParaRPr>
              <a:solidFill>
                <a:srgbClr val="181818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Bookman Old Style"/>
              <a:buChar char="○"/>
            </a:pPr>
            <a:r>
              <a:rPr lang="en">
                <a:solidFill>
                  <a:srgbClr val="18181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Exam Score : 1 student with 101 score , set to 100</a:t>
            </a:r>
            <a:endParaRPr>
              <a:solidFill>
                <a:srgbClr val="181818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Bookman Old Style"/>
              <a:buChar char="○"/>
            </a:pPr>
            <a:r>
              <a:rPr lang="en">
                <a:solidFill>
                  <a:srgbClr val="18181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Tutoring Session :  1266 , no need to correct</a:t>
            </a:r>
            <a:endParaRPr>
              <a:solidFill>
                <a:srgbClr val="181818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Bookman Old Style"/>
              <a:buChar char="○"/>
            </a:pPr>
            <a:r>
              <a:rPr lang="en">
                <a:solidFill>
                  <a:srgbClr val="181818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Hours Studied : May vary too much , so no need to handle</a:t>
            </a:r>
            <a:endParaRPr>
              <a:solidFill>
                <a:srgbClr val="181818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Transform the data </a:t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Scaling</a:t>
            </a: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:</a:t>
            </a: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No features holds large values.</a:t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Encoding :</a:t>
            </a: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Ordinal encoding for most categorical features.</a:t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Ratios :</a:t>
            </a:r>
            <a:r>
              <a:rPr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Activity_to_Sleep_ratio , Parental_Education_Level_to_Parental_Involvment_ratio </a:t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96" name="Google Shape;96;p20" title="Screenshot 2025-12-15 at 1.32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00" y="2405025"/>
            <a:ext cx="4132975" cy="26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0" title="Screenshot 2025-12-15 at 1.33.5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4975" y="2405025"/>
            <a:ext cx="4132974" cy="249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202100" y="101050"/>
            <a:ext cx="8862300" cy="48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Finding the Correlations </a:t>
            </a:r>
            <a:endParaRPr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ookman Old Style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Used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corr(method=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"spearman"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)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ookman Old Style"/>
              <a:buChar char="●"/>
            </a:pPr>
            <a:r>
              <a:rPr lang="en" sz="1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Used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sns.heatmap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 to plot the correlation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Attendance , hours_studied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 have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highest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correlation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ookman Old Style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Parental_Involvment , access_to_resources,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Previous_Scores, Tutoring_Session,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Parental_Education_Level also have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significant correlation with Exam_Score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ookman Old Style"/>
              <a:buChar char="●"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Distance_From_Home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 and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Learning_Disabilit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y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have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-ve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 correlation with Exam_Score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03" name="Google Shape;103;p21" title="Screenshot 2025-12-15 at 1.42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0925" y="635001"/>
            <a:ext cx="4814625" cy="44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211675"/>
            <a:ext cx="8520600" cy="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Bookman Old Style"/>
                <a:ea typeface="Bookman Old Style"/>
                <a:cs typeface="Bookman Old Style"/>
                <a:sym typeface="Bookman Old Style"/>
              </a:rPr>
              <a:t>Insights</a:t>
            </a:r>
            <a:endParaRPr b="1" sz="20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698575"/>
            <a:ext cx="8520600" cy="40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data for most of the Numerical features is </a:t>
            </a:r>
            <a:r>
              <a:rPr i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normally distributed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, with a few skewed   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    towards right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for eg : 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Tutoring_Session, Physical_Activity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Few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categorical Features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are also </a:t>
            </a:r>
            <a:r>
              <a:rPr b="1" i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Right-Skewed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, For eg: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Parental education level ,distance from home , teacher quality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Most of the students score between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65-75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in Exam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Most of the students have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3-4 hours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of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physical activity</a:t>
            </a:r>
            <a:endParaRPr b="1"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Most of the students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sleep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for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7-8 hours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which is pretty good.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Most students, close to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6000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have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internet access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Almost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2/3rd 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Students go to the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public school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activity to sleep ratio the ratio is almost distributed normally with little skewed to the     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Right.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Looking at the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correlation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and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Scatter plot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between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activity_sleep_ratio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and </a:t>
            </a: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exam_score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, we can see that correlation is not significant. But in the distribution chart we see that most of the top scorers have either a balanced or sedentary lifestyle , which makes sense 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48175"/>
            <a:ext cx="8520600" cy="47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Scatter Plot b/w Exam_Score and activity_sleep_ratio</a:t>
            </a:r>
            <a:endParaRPr b="1"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b="1"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Correlation b/w activity_sleep_Ratio and Hours_Studied </a:t>
            </a:r>
            <a:r>
              <a:rPr lang="en"/>
              <a:t>              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                       </a:t>
            </a:r>
            <a:endParaRPr/>
          </a:p>
        </p:txBody>
      </p:sp>
      <p:pic>
        <p:nvPicPr>
          <p:cNvPr id="115" name="Google Shape;115;p23" title="Screenshot 2025-12-16 at 10.06.1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42" y="804350"/>
            <a:ext cx="4360326" cy="43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3" title="Screenshot 2025-12-16 at 10.07.1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0258" y="1356250"/>
            <a:ext cx="4307400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222300"/>
            <a:ext cx="8520600" cy="46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15912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Char char="●"/>
            </a:pP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correlation between </a:t>
            </a:r>
            <a:r>
              <a:rPr b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activity_sleep_ratio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and </a:t>
            </a:r>
            <a:r>
              <a:rPr b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Hours_Studied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is a </a:t>
            </a:r>
            <a:r>
              <a:rPr b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-ve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value. Though the value is not significant , it suggests that as the activity_sleep_ratio increases , which means physical activity increases, the hours studied decreases . This also holds true in a practical sense.</a:t>
            </a:r>
            <a:endParaRPr sz="2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5912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Char char="●"/>
            </a:pPr>
            <a:r>
              <a:rPr b="1" i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Attendance</a:t>
            </a:r>
            <a:r>
              <a:rPr b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and </a:t>
            </a:r>
            <a:r>
              <a:rPr b="1" i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Hour studied</a:t>
            </a:r>
            <a:r>
              <a:rPr b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have the highest correlation with </a:t>
            </a:r>
            <a:r>
              <a:rPr i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exam score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sz="2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5912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Char char="●"/>
            </a:pPr>
            <a:r>
              <a:rPr b="1" i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Distance from home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and </a:t>
            </a:r>
            <a:r>
              <a:rPr b="1" i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learning disability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has </a:t>
            </a:r>
            <a:r>
              <a:rPr b="1" i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negative correlation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with </a:t>
            </a:r>
            <a:r>
              <a:rPr b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exam score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which indicates that as the learning disability increases , the exam score decreases , which holds true for real life. Also as the distance from home increases , the exam score decreases ,because students may be travelling for long time which affects their performance.</a:t>
            </a:r>
            <a:endParaRPr sz="2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5912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Char char="●"/>
            </a:pPr>
            <a:r>
              <a:rPr b="1" i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Parental Involvement , Access to Resources , Previous Score, Tutoring Session , Family Income , Parental Educational Level</a:t>
            </a:r>
            <a:r>
              <a:rPr b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also have significant correlation with exam score, which clearly indicates that all these factors contribute to the success of a child in academics .</a:t>
            </a:r>
            <a:endParaRPr sz="2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5912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Char char="●"/>
            </a:pPr>
            <a:r>
              <a:rPr b="1" i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Parental Involvement </a:t>
            </a:r>
            <a:r>
              <a:rPr b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and</a:t>
            </a:r>
            <a:r>
              <a:rPr b="1" i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Parental Educational Level 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have </a:t>
            </a:r>
            <a:r>
              <a:rPr b="1"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-ve correlation</a:t>
            </a:r>
            <a:r>
              <a:rPr lang="en" sz="22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,which means that parents with higher degrees spend less time with kids.</a:t>
            </a:r>
            <a:endParaRPr sz="2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285750"/>
            <a:ext cx="8520600" cy="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Bookman Old Style"/>
                <a:ea typeface="Bookman Old Style"/>
                <a:cs typeface="Bookman Old Style"/>
                <a:sym typeface="Bookman Old Style"/>
              </a:rPr>
              <a:t>Learning</a:t>
            </a:r>
            <a:r>
              <a:rPr b="1" lang="en" sz="2000">
                <a:latin typeface="Bookman Old Style"/>
                <a:ea typeface="Bookman Old Style"/>
                <a:cs typeface="Bookman Old Style"/>
                <a:sym typeface="Bookman Old Style"/>
              </a:rPr>
              <a:t> Beyond Original Questions</a:t>
            </a:r>
            <a:endParaRPr b="1" sz="20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889000"/>
            <a:ext cx="8520600" cy="3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After going through the dataset and performing the EDA , it looked like the dataset is realistic , but not enough . More samples of the dataset is needed to get bigger and accurate numbers. Also there is no clarity about whether the sample 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represents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the targeted population.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Also I found that it's hard to relate , process and combine categorical features. It's hard to interpret these columns and reach a conclusion. For eg in case of involvement_to_education ratio , both these columns were ordinal encoded , still the ratio didn’t  make any sense.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Though the direction of the numbers supports my hypothesis about the factors affecting students 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performance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and the summary of the EDA seems real and authentic , more dataset is needed to reach precise and clear conclusions.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222250"/>
            <a:ext cx="85206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Bookman Old Style"/>
                <a:ea typeface="Bookman Old Style"/>
                <a:cs typeface="Bookman Old Style"/>
                <a:sym typeface="Bookman Old Style"/>
              </a:rPr>
              <a:t>Suggestions</a:t>
            </a:r>
            <a:endParaRPr b="1" sz="20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719650"/>
            <a:ext cx="8520600" cy="3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Quality of sample matters and it should </a:t>
            </a: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represent the targeted population.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Number of sample matters too, more the data , the more clear and precise the answers.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Quality of data matters too. Dataset should have more numerical values and less ordinal or nominal values , as they can be hard to relate and conclude.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Taking multiple samples from the same population can give even more accurate results and conclusions. 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 should be cleaned properly , including decisions like whether to drop rows with na or fill the null values with mean or mode , depending upon the criticality of data . 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Removing the duplicity in data and also scaling the dataset , to remove inclination towards features with larger values.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Char char="●"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Proper encoding method should be used for encoding the ordinal and nominal features if they have to be used.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All these points are very important and should be taken care when selecting a dataset and performing EDA.</a:t>
            </a:r>
            <a:endParaRPr sz="14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